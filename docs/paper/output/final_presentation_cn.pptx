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999" cy="6858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1_architecture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1_architecture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5_controlnet_pipeline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_adaptive_routing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4_routing_space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6_adaptive_efficiency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7_matching_matrix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01_ori_dom_perf.png"/><Relationship Id="rId3" Type="http://schemas.openxmlformats.org/officeDocument/2006/relationships/image" Target="../media/fig02_dom_ori_perf.png"/><Relationship Id="rId4" Type="http://schemas.openxmlformats.org/officeDocument/2006/relationships/image" Target="../media/fig03_roundtrip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04_solar_perf.png"/><Relationship Id="rId3" Type="http://schemas.openxmlformats.org/officeDocument/2006/relationships/image" Target="../media/fig05_solar_accuracy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Rect 10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pic>
        <p:nvPicPr>
          <p:cNvPr id="11" name="fig1_archite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43914"/>
            <a:ext cx="5212080" cy="25242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685800" y="1051560"/>
            <a:ext cx="55778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PyISIS: 基于 ISIS 的行星遥感制图开发库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13232" y="260604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700">
                <a:solidFill>
                  <a:srgbClr val="1B5E79"/>
                </a:solidFill>
                <a:latin typeface="Aptos"/>
                <a:ea typeface="Microsoft YaHei"/>
              </a:rPr>
              <a:t>基于 USGS ISIS 9.0.0 的 Python 绑定、几何计算与自动控制网工作流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22960" y="40690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200">
                <a:solidFill>
                  <a:srgbClr val="5D6975"/>
                </a:solidFill>
                <a:latin typeface="Aptos"/>
                <a:ea typeface="Microsoft YaHei"/>
              </a:rPr>
              <a:t>Python 直连 ISIS 几何核心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" y="445312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200">
                <a:solidFill>
                  <a:srgbClr val="5D6975"/>
                </a:solidFill>
                <a:latin typeface="Aptos"/>
                <a:ea typeface="Microsoft YaHei"/>
              </a:rPr>
              <a:t>面向自动控制网与深度匹配工作流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" y="483717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200">
                <a:solidFill>
                  <a:srgbClr val="5D6975"/>
                </a:solidFill>
                <a:latin typeface="Aptos"/>
                <a:ea typeface="Microsoft YaHei"/>
              </a:rPr>
              <a:t>Xun Geng · 2026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paper_pyisis_jstars_imrad.tex / Fig.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瓶颈不是单个算法，而是 ISIS 与 Python 工作流断裂</a:t>
            </a:r>
          </a:p>
        </p:txBody>
      </p:sp>
      <p:sp>
        <p:nvSpPr>
          <p:cNvPr id="11" name="Rect 11"/>
          <p:cNvSpPr/>
          <p:nvPr/>
        </p:nvSpPr>
        <p:spPr>
          <a:xfrm>
            <a:off x="1005840" y="1600200"/>
            <a:ext cx="146304" cy="566928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325880" y="1536192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700" b="1">
                <a:solidFill>
                  <a:srgbClr val="1E2933"/>
                </a:solidFill>
                <a:latin typeface="Aptos"/>
                <a:ea typeface="Microsoft YaHei"/>
              </a:rPr>
              <a:t>ISIS 几何严谨，但以 C++/命令行为主</a:t>
            </a:r>
          </a:p>
        </p:txBody>
      </p:sp>
      <p:sp>
        <p:nvSpPr>
          <p:cNvPr id="13" name="Rect 13"/>
          <p:cNvSpPr/>
          <p:nvPr/>
        </p:nvSpPr>
        <p:spPr>
          <a:xfrm>
            <a:off x="1005840" y="2560320"/>
            <a:ext cx="146304" cy="566928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325880" y="2496312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700" b="1">
                <a:solidFill>
                  <a:srgbClr val="1E2933"/>
                </a:solidFill>
                <a:latin typeface="Aptos"/>
                <a:ea typeface="Microsoft YaHei"/>
              </a:rPr>
              <a:t>Python 生态适合算法研发与深度匹配</a:t>
            </a:r>
          </a:p>
        </p:txBody>
      </p:sp>
      <p:sp>
        <p:nvSpPr>
          <p:cNvPr id="15" name="Rect 15"/>
          <p:cNvSpPr/>
          <p:nvPr/>
        </p:nvSpPr>
        <p:spPr>
          <a:xfrm>
            <a:off x="1005840" y="3520440"/>
            <a:ext cx="146304" cy="566928"/>
          </a:xfrm>
          <a:prstGeom prst="rect">
            <a:avLst/>
          </a:prstGeom>
          <a:solidFill>
            <a:srgbClr val="C96A35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325880" y="3456432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700" b="1">
                <a:solidFill>
                  <a:srgbClr val="1E2933"/>
                </a:solidFill>
                <a:latin typeface="Aptos"/>
                <a:ea typeface="Microsoft YaHei"/>
              </a:rPr>
              <a:t>中间文件与 subprocess 限制迭代效率</a:t>
            </a:r>
          </a:p>
        </p:txBody>
      </p:sp>
      <p:sp>
        <p:nvSpPr>
          <p:cNvPr id="17" name="Rect 17"/>
          <p:cNvSpPr/>
          <p:nvPr/>
        </p:nvSpPr>
        <p:spPr>
          <a:xfrm>
            <a:off x="1005840" y="4480560"/>
            <a:ext cx="146304" cy="566928"/>
          </a:xfrm>
          <a:prstGeom prst="rect">
            <a:avLst/>
          </a:prstGeom>
          <a:solidFill>
            <a:srgbClr val="C96A35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325880" y="4416552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700" b="1">
                <a:solidFill>
                  <a:srgbClr val="1E2933"/>
                </a:solidFill>
                <a:latin typeface="Aptos"/>
                <a:ea typeface="Microsoft YaHei"/>
              </a:rPr>
              <a:t>光照变化与弱纹理使固定匹配器失效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94360" y="411480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PyISIS 的核心定位：把摄影测量 API 带进 Python</a:t>
            </a:r>
          </a:p>
        </p:txBody>
      </p:sp>
      <p:sp>
        <p:nvSpPr>
          <p:cNvPr id="11" name="Rect 11"/>
          <p:cNvSpPr/>
          <p:nvPr/>
        </p:nvSpPr>
        <p:spPr>
          <a:xfrm>
            <a:off x="822960" y="1874519"/>
            <a:ext cx="2697480" cy="2148840"/>
          </a:xfrm>
          <a:prstGeom prst="rect">
            <a:avLst/>
          </a:prstGeom>
          <a:solidFill>
            <a:srgbClr val="F2F6F8"/>
          </a:solidFill>
          <a:ln w="12000">
            <a:solidFill>
              <a:srgbClr val="1B5E79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1024128" y="21488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600" b="1">
                <a:solidFill>
                  <a:srgbClr val="1E2933"/>
                </a:solidFill>
                <a:latin typeface="Aptos"/>
                <a:ea typeface="Microsoft YaHei"/>
              </a:rPr>
              <a:t>暴露 200+ ISIS C++ 类与类型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24128" y="3657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01</a:t>
            </a:r>
          </a:p>
        </p:txBody>
      </p:sp>
      <p:sp>
        <p:nvSpPr>
          <p:cNvPr id="14" name="Rect 14"/>
          <p:cNvSpPr/>
          <p:nvPr/>
        </p:nvSpPr>
        <p:spPr>
          <a:xfrm>
            <a:off x="4297680" y="1874519"/>
            <a:ext cx="2697480" cy="2148840"/>
          </a:xfrm>
          <a:prstGeom prst="rect">
            <a:avLst/>
          </a:prstGeom>
          <a:solidFill>
            <a:srgbClr val="F2F6F8"/>
          </a:solidFill>
          <a:ln w="12000">
            <a:solidFill>
              <a:srgbClr val="C96A35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4498848" y="21488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600" b="1">
                <a:solidFill>
                  <a:srgbClr val="1E2933"/>
                </a:solidFill>
                <a:latin typeface="Aptos"/>
                <a:ea typeface="Microsoft YaHei"/>
              </a:rPr>
              <a:t>覆盖 50+ 任务相机、SPICE、投影、控制网与束平差配置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498848" y="3657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C96A35"/>
                </a:solidFill>
                <a:latin typeface="Aptos"/>
                <a:ea typeface="Microsoft YaHei"/>
              </a:rPr>
              <a:t>02</a:t>
            </a:r>
          </a:p>
        </p:txBody>
      </p:sp>
      <p:sp>
        <p:nvSpPr>
          <p:cNvPr id="17" name="Rect 17"/>
          <p:cNvSpPr/>
          <p:nvPr/>
        </p:nvSpPr>
        <p:spPr>
          <a:xfrm>
            <a:off x="7772400" y="1874519"/>
            <a:ext cx="2697480" cy="2148840"/>
          </a:xfrm>
          <a:prstGeom prst="rect">
            <a:avLst/>
          </a:prstGeom>
          <a:solidFill>
            <a:srgbClr val="F2F6F8"/>
          </a:solidFill>
          <a:ln w="12000">
            <a:solidFill>
              <a:srgbClr val="2F7D5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973568" y="21488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600" b="1">
                <a:solidFill>
                  <a:srgbClr val="1E2933"/>
                </a:solidFill>
                <a:latin typeface="Aptos"/>
                <a:ea typeface="Microsoft YaHei"/>
              </a:rPr>
              <a:t>贡献是可复用开发库，而非新特征匹配器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973568" y="3657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2F7D58"/>
                </a:solidFill>
                <a:latin typeface="Aptos"/>
                <a:ea typeface="Microsoft YaHei"/>
              </a:rPr>
              <a:t>03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05840" y="50749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900" b="1">
                <a:solidFill>
                  <a:srgbClr val="1B5E79"/>
                </a:solidFill>
                <a:latin typeface="Aptos"/>
                <a:ea typeface="Microsoft YaHei"/>
              </a:rPr>
              <a:t>技术路线：薄绑定 + 自适应匹配 + 控制网闭环。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五层架构让 ISIS 几何与科学 Python 生态共存</a:t>
            </a:r>
          </a:p>
        </p:txBody>
      </p:sp>
      <p:pic>
        <p:nvPicPr>
          <p:cNvPr id="11" name="fig1_archite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09055"/>
            <a:ext cx="7315200" cy="3542809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8229600" y="1143000"/>
            <a:ext cx="2743200" cy="507492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66760" y="13258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读图要点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66760" y="1874519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pybind11 薄绑定保留 C++ 语义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366760" y="2606039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七个 Python 模块组织核心能力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366760" y="33375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应用层支持匹配、控制网与 bundle adjustment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Fig. 1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端到端流程从 ISIS Cube 走到 jigsaw 可用控制网</a:t>
            </a:r>
          </a:p>
        </p:txBody>
      </p:sp>
      <p:pic>
        <p:nvPicPr>
          <p:cNvPr id="11" name="fig5_controlnet_pipe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5414"/>
            <a:ext cx="8732520" cy="3130090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9464040" y="1143000"/>
            <a:ext cx="2331720" cy="507492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601200" y="132588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读图要点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601200" y="187451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DOM 匹配后回投到原始 line/sample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0" y="260603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ControlPoint / ControlMeasure 由 Python 直接构建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Fig. 3 Control-network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自适应路由用物理几何信号选择匹配策略</a:t>
            </a:r>
          </a:p>
        </p:txBody>
      </p:sp>
      <p:pic>
        <p:nvPicPr>
          <p:cNvPr id="11" name="fig2_adaptive_rout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386" y="1051560"/>
            <a:ext cx="3097587" cy="5257800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9464040" y="1143000"/>
            <a:ext cx="2331720" cy="507492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601200" y="132588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读图要点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601200" y="187451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纹理稀疏度 S：SIFT 密度、梯度、GLCM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0" y="260603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光照差异 D：SPICE 太阳高度角与方位角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0" y="333756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质量门控失败后级联升级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Fig. 2 Adaptive routing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路由规则把匹配选择变成可审计决策</a:t>
            </a:r>
          </a:p>
        </p:txBody>
      </p:sp>
      <p:sp>
        <p:nvSpPr>
          <p:cNvPr id="11" name="Rect 11"/>
          <p:cNvSpPr/>
          <p:nvPr/>
        </p:nvSpPr>
        <p:spPr>
          <a:xfrm>
            <a:off x="640080" y="1234440"/>
            <a:ext cx="237744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658368" y="125272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条件</a:t>
            </a:r>
          </a:p>
        </p:txBody>
      </p:sp>
      <p:sp>
        <p:nvSpPr>
          <p:cNvPr id="13" name="Rect 13"/>
          <p:cNvSpPr/>
          <p:nvPr/>
        </p:nvSpPr>
        <p:spPr>
          <a:xfrm>
            <a:off x="3017520" y="1234440"/>
            <a:ext cx="237744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3035808" y="125272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初始匹配器</a:t>
            </a:r>
          </a:p>
        </p:txBody>
      </p:sp>
      <p:sp>
        <p:nvSpPr>
          <p:cNvPr id="15" name="Rect 15"/>
          <p:cNvSpPr/>
          <p:nvPr/>
        </p:nvSpPr>
        <p:spPr>
          <a:xfrm>
            <a:off x="5394960" y="1234440"/>
            <a:ext cx="237744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413248" y="125272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原因</a:t>
            </a:r>
          </a:p>
        </p:txBody>
      </p:sp>
      <p:sp>
        <p:nvSpPr>
          <p:cNvPr id="17" name="Rect 17"/>
          <p:cNvSpPr/>
          <p:nvPr/>
        </p:nvSpPr>
        <p:spPr>
          <a:xfrm>
            <a:off x="640080" y="2125980"/>
            <a:ext cx="237744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658368" y="214426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低 S、低 D</a:t>
            </a:r>
          </a:p>
        </p:txBody>
      </p:sp>
      <p:sp>
        <p:nvSpPr>
          <p:cNvPr id="19" name="Rect 19"/>
          <p:cNvSpPr/>
          <p:nvPr/>
        </p:nvSpPr>
        <p:spPr>
          <a:xfrm>
            <a:off x="3017520" y="2125980"/>
            <a:ext cx="237744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3035808" y="214426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SIFT/FLANN</a:t>
            </a:r>
          </a:p>
        </p:txBody>
      </p:sp>
      <p:sp>
        <p:nvSpPr>
          <p:cNvPr id="21" name="Rect 21"/>
          <p:cNvSpPr/>
          <p:nvPr/>
        </p:nvSpPr>
        <p:spPr>
          <a:xfrm>
            <a:off x="5394960" y="2125980"/>
            <a:ext cx="237744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5413248" y="214426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纹理丰富、光照相近</a:t>
            </a:r>
          </a:p>
        </p:txBody>
      </p:sp>
      <p:sp>
        <p:nvSpPr>
          <p:cNvPr id="23" name="Rect 23"/>
          <p:cNvSpPr/>
          <p:nvPr/>
        </p:nvSpPr>
        <p:spPr>
          <a:xfrm>
            <a:off x="640080" y="3017520"/>
            <a:ext cx="237744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58368" y="303580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高 S 或高 D</a:t>
            </a:r>
          </a:p>
        </p:txBody>
      </p:sp>
      <p:sp>
        <p:nvSpPr>
          <p:cNvPr id="25" name="Rect 25"/>
          <p:cNvSpPr/>
          <p:nvPr/>
        </p:nvSpPr>
        <p:spPr>
          <a:xfrm>
            <a:off x="3017520" y="3017520"/>
            <a:ext cx="237744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3035808" y="303580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LoFTR</a:t>
            </a:r>
          </a:p>
        </p:txBody>
      </p:sp>
      <p:sp>
        <p:nvSpPr>
          <p:cNvPr id="27" name="Rect 27"/>
          <p:cNvSpPr/>
          <p:nvPr/>
        </p:nvSpPr>
        <p:spPr>
          <a:xfrm>
            <a:off x="5394960" y="3017520"/>
            <a:ext cx="237744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5413248" y="303580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弱纹理或大光照差</a:t>
            </a:r>
          </a:p>
        </p:txBody>
      </p:sp>
      <p:sp>
        <p:nvSpPr>
          <p:cNvPr id="29" name="Rect 29"/>
          <p:cNvSpPr/>
          <p:nvPr/>
        </p:nvSpPr>
        <p:spPr>
          <a:xfrm>
            <a:off x="640080" y="3909060"/>
            <a:ext cx="237744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658368" y="392734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其他情况</a:t>
            </a:r>
          </a:p>
        </p:txBody>
      </p:sp>
      <p:sp>
        <p:nvSpPr>
          <p:cNvPr id="31" name="Rect 31"/>
          <p:cNvSpPr/>
          <p:nvPr/>
        </p:nvSpPr>
        <p:spPr>
          <a:xfrm>
            <a:off x="3017520" y="3909060"/>
            <a:ext cx="237744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3035808" y="392734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LightGlue</a:t>
            </a:r>
          </a:p>
        </p:txBody>
      </p:sp>
      <p:sp>
        <p:nvSpPr>
          <p:cNvPr id="33" name="Rect 33"/>
          <p:cNvSpPr/>
          <p:nvPr/>
        </p:nvSpPr>
        <p:spPr>
          <a:xfrm>
            <a:off x="5394960" y="3909060"/>
            <a:ext cx="237744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5413248" y="3927348"/>
            <a:ext cx="234086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中等难度折中</a:t>
            </a:r>
          </a:p>
        </p:txBody>
      </p:sp>
      <p:sp>
        <p:nvSpPr>
          <p:cNvPr id="111" name="Rect 111"/>
          <p:cNvSpPr/>
          <p:nvPr/>
        </p:nvSpPr>
        <p:spPr>
          <a:xfrm>
            <a:off x="8183879" y="1234440"/>
            <a:ext cx="2926080" cy="356616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12" name="Text 112"/>
          <p:cNvSpPr txBox="1"/>
          <p:nvPr/>
        </p:nvSpPr>
        <p:spPr>
          <a:xfrm>
            <a:off x="8366760" y="14630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汇报重点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366760" y="20574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S≤0.35 且 D≤0.20：优先 SIFT/FLANN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366760" y="271576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S≥0.65 或 D≥0.55：优先 LoFTR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8366760" y="3374136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中间区域使用 LightGlue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六对 LRO NAC 影像全部生成控制网</a:t>
            </a:r>
          </a:p>
        </p:txBody>
      </p:sp>
      <p:sp>
        <p:nvSpPr>
          <p:cNvPr id="11" name="Rect 11"/>
          <p:cNvSpPr/>
          <p:nvPr/>
        </p:nvSpPr>
        <p:spPr>
          <a:xfrm>
            <a:off x="640080" y="1234440"/>
            <a:ext cx="118872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658368" y="125272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类型</a:t>
            </a:r>
          </a:p>
        </p:txBody>
      </p:sp>
      <p:sp>
        <p:nvSpPr>
          <p:cNvPr id="13" name="Rect 13"/>
          <p:cNvSpPr/>
          <p:nvPr/>
        </p:nvSpPr>
        <p:spPr>
          <a:xfrm>
            <a:off x="1828800" y="1234440"/>
            <a:ext cx="118872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1847088" y="125272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影像对</a:t>
            </a:r>
          </a:p>
        </p:txBody>
      </p:sp>
      <p:sp>
        <p:nvSpPr>
          <p:cNvPr id="15" name="Rect 15"/>
          <p:cNvSpPr/>
          <p:nvPr/>
        </p:nvSpPr>
        <p:spPr>
          <a:xfrm>
            <a:off x="3017520" y="1234440"/>
            <a:ext cx="118872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3035808" y="125272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有效 tile</a:t>
            </a:r>
          </a:p>
        </p:txBody>
      </p:sp>
      <p:sp>
        <p:nvSpPr>
          <p:cNvPr id="17" name="Rect 17"/>
          <p:cNvSpPr/>
          <p:nvPr/>
        </p:nvSpPr>
        <p:spPr>
          <a:xfrm>
            <a:off x="4206240" y="1234440"/>
            <a:ext cx="118872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224528" y="125272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匹配 tile</a:t>
            </a:r>
          </a:p>
        </p:txBody>
      </p:sp>
      <p:sp>
        <p:nvSpPr>
          <p:cNvPr id="19" name="Rect 19"/>
          <p:cNvSpPr/>
          <p:nvPr/>
        </p:nvSpPr>
        <p:spPr>
          <a:xfrm>
            <a:off x="5394960" y="1234440"/>
            <a:ext cx="118872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5413248" y="125272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控制点</a:t>
            </a:r>
          </a:p>
        </p:txBody>
      </p:sp>
      <p:sp>
        <p:nvSpPr>
          <p:cNvPr id="21" name="Rect 21"/>
          <p:cNvSpPr/>
          <p:nvPr/>
        </p:nvSpPr>
        <p:spPr>
          <a:xfrm>
            <a:off x="6583680" y="1234440"/>
            <a:ext cx="1188720" cy="891540"/>
          </a:xfrm>
          <a:prstGeom prst="rect">
            <a:avLst/>
          </a:prstGeom>
          <a:solidFill>
            <a:srgbClr val="1B5E79"/>
          </a:solidFill>
          <a:ln w="12000">
            <a:solidFill>
              <a:srgbClr val="D6DEE6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6601968" y="125272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900" b="1">
                <a:solidFill>
                  <a:srgbClr val="FFFFFF"/>
                </a:solidFill>
                <a:latin typeface="Aptos"/>
                <a:ea typeface="Microsoft YaHei"/>
              </a:rPr>
              <a:t>时间</a:t>
            </a:r>
          </a:p>
        </p:txBody>
      </p:sp>
      <p:sp>
        <p:nvSpPr>
          <p:cNvPr id="23" name="Rect 23"/>
          <p:cNvSpPr/>
          <p:nvPr/>
        </p:nvSpPr>
        <p:spPr>
          <a:xfrm>
            <a:off x="640080" y="212598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58368" y="214426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Same-orbit</a:t>
            </a:r>
          </a:p>
        </p:txBody>
      </p:sp>
      <p:sp>
        <p:nvSpPr>
          <p:cNvPr id="25" name="Rect 25"/>
          <p:cNvSpPr/>
          <p:nvPr/>
        </p:nvSpPr>
        <p:spPr>
          <a:xfrm>
            <a:off x="1828800" y="212598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1847088" y="214426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2</a:t>
            </a:r>
          </a:p>
        </p:txBody>
      </p:sp>
      <p:sp>
        <p:nvSpPr>
          <p:cNvPr id="27" name="Rect 27"/>
          <p:cNvSpPr/>
          <p:nvPr/>
        </p:nvSpPr>
        <p:spPr>
          <a:xfrm>
            <a:off x="3017520" y="212598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3035808" y="214426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586</a:t>
            </a:r>
          </a:p>
        </p:txBody>
      </p:sp>
      <p:sp>
        <p:nvSpPr>
          <p:cNvPr id="29" name="Rect 29"/>
          <p:cNvSpPr/>
          <p:nvPr/>
        </p:nvSpPr>
        <p:spPr>
          <a:xfrm>
            <a:off x="4206240" y="212598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4224528" y="214426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131</a:t>
            </a:r>
          </a:p>
        </p:txBody>
      </p:sp>
      <p:sp>
        <p:nvSpPr>
          <p:cNvPr id="31" name="Rect 31"/>
          <p:cNvSpPr/>
          <p:nvPr/>
        </p:nvSpPr>
        <p:spPr>
          <a:xfrm>
            <a:off x="5394960" y="212598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5413248" y="214426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41,892</a:t>
            </a:r>
          </a:p>
        </p:txBody>
      </p:sp>
      <p:sp>
        <p:nvSpPr>
          <p:cNvPr id="33" name="Rect 33"/>
          <p:cNvSpPr/>
          <p:nvPr/>
        </p:nvSpPr>
        <p:spPr>
          <a:xfrm>
            <a:off x="6583680" y="212598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6601968" y="214426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332 s</a:t>
            </a:r>
          </a:p>
        </p:txBody>
      </p:sp>
      <p:sp>
        <p:nvSpPr>
          <p:cNvPr id="35" name="Rect 35"/>
          <p:cNvSpPr/>
          <p:nvPr/>
        </p:nvSpPr>
        <p:spPr>
          <a:xfrm>
            <a:off x="640080" y="3017520"/>
            <a:ext cx="118872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58368" y="303580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Cross-track</a:t>
            </a:r>
          </a:p>
        </p:txBody>
      </p:sp>
      <p:sp>
        <p:nvSpPr>
          <p:cNvPr id="37" name="Rect 37"/>
          <p:cNvSpPr/>
          <p:nvPr/>
        </p:nvSpPr>
        <p:spPr>
          <a:xfrm>
            <a:off x="1828800" y="3017520"/>
            <a:ext cx="118872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1847088" y="303580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4</a:t>
            </a:r>
          </a:p>
        </p:txBody>
      </p:sp>
      <p:sp>
        <p:nvSpPr>
          <p:cNvPr id="39" name="Rect 39"/>
          <p:cNvSpPr/>
          <p:nvPr/>
        </p:nvSpPr>
        <p:spPr>
          <a:xfrm>
            <a:off x="3017520" y="3017520"/>
            <a:ext cx="118872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3035808" y="303580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1,130</a:t>
            </a:r>
          </a:p>
        </p:txBody>
      </p:sp>
      <p:sp>
        <p:nvSpPr>
          <p:cNvPr id="41" name="Rect 41"/>
          <p:cNvSpPr/>
          <p:nvPr/>
        </p:nvSpPr>
        <p:spPr>
          <a:xfrm>
            <a:off x="4206240" y="3017520"/>
            <a:ext cx="118872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4224528" y="303580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480</a:t>
            </a:r>
          </a:p>
        </p:txBody>
      </p:sp>
      <p:sp>
        <p:nvSpPr>
          <p:cNvPr id="43" name="Rect 43"/>
          <p:cNvSpPr/>
          <p:nvPr/>
        </p:nvSpPr>
        <p:spPr>
          <a:xfrm>
            <a:off x="5394960" y="3017520"/>
            <a:ext cx="118872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5413248" y="303580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79,964</a:t>
            </a:r>
          </a:p>
        </p:txBody>
      </p:sp>
      <p:sp>
        <p:nvSpPr>
          <p:cNvPr id="45" name="Rect 45"/>
          <p:cNvSpPr/>
          <p:nvPr/>
        </p:nvSpPr>
        <p:spPr>
          <a:xfrm>
            <a:off x="6583680" y="3017520"/>
            <a:ext cx="1188720" cy="89154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6601968" y="303580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438 s</a:t>
            </a:r>
          </a:p>
        </p:txBody>
      </p:sp>
      <p:sp>
        <p:nvSpPr>
          <p:cNvPr id="47" name="Rect 47"/>
          <p:cNvSpPr/>
          <p:nvPr/>
        </p:nvSpPr>
        <p:spPr>
          <a:xfrm>
            <a:off x="640080" y="390906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658368" y="392734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Total</a:t>
            </a:r>
          </a:p>
        </p:txBody>
      </p:sp>
      <p:sp>
        <p:nvSpPr>
          <p:cNvPr id="49" name="Rect 49"/>
          <p:cNvSpPr/>
          <p:nvPr/>
        </p:nvSpPr>
        <p:spPr>
          <a:xfrm>
            <a:off x="1828800" y="390906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1847088" y="392734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6</a:t>
            </a:r>
          </a:p>
        </p:txBody>
      </p:sp>
      <p:sp>
        <p:nvSpPr>
          <p:cNvPr id="51" name="Rect 51"/>
          <p:cNvSpPr/>
          <p:nvPr/>
        </p:nvSpPr>
        <p:spPr>
          <a:xfrm>
            <a:off x="3017520" y="390906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3035808" y="392734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1,716</a:t>
            </a:r>
          </a:p>
        </p:txBody>
      </p:sp>
      <p:sp>
        <p:nvSpPr>
          <p:cNvPr id="53" name="Rect 53"/>
          <p:cNvSpPr/>
          <p:nvPr/>
        </p:nvSpPr>
        <p:spPr>
          <a:xfrm>
            <a:off x="4206240" y="390906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4224528" y="392734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611</a:t>
            </a:r>
          </a:p>
        </p:txBody>
      </p:sp>
      <p:sp>
        <p:nvSpPr>
          <p:cNvPr id="55" name="Rect 55"/>
          <p:cNvSpPr/>
          <p:nvPr/>
        </p:nvSpPr>
        <p:spPr>
          <a:xfrm>
            <a:off x="5394960" y="390906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56" name="Text 56"/>
          <p:cNvSpPr txBox="1"/>
          <p:nvPr/>
        </p:nvSpPr>
        <p:spPr>
          <a:xfrm>
            <a:off x="5413248" y="392734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121,856</a:t>
            </a:r>
          </a:p>
        </p:txBody>
      </p:sp>
      <p:sp>
        <p:nvSpPr>
          <p:cNvPr id="57" name="Rect 57"/>
          <p:cNvSpPr/>
          <p:nvPr/>
        </p:nvSpPr>
        <p:spPr>
          <a:xfrm>
            <a:off x="6583680" y="3909060"/>
            <a:ext cx="1188720" cy="891540"/>
          </a:xfrm>
          <a:prstGeom prst="rect">
            <a:avLst/>
          </a:prstGeom>
          <a:solidFill>
            <a:srgbClr val="FFFFFF"/>
          </a:solidFill>
          <a:ln w="12000">
            <a:solidFill>
              <a:srgbClr val="D6DEE6"/>
            </a:solidFill>
          </a:ln>
        </p:spPr>
      </p:sp>
      <p:sp>
        <p:nvSpPr>
          <p:cNvPr id="58" name="Text 58"/>
          <p:cNvSpPr txBox="1"/>
          <p:nvPr/>
        </p:nvSpPr>
        <p:spPr>
          <a:xfrm>
            <a:off x="6601968" y="3927348"/>
            <a:ext cx="1152144" cy="854964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000">
                <a:solidFill>
                  <a:srgbClr val="1E2933"/>
                </a:solidFill>
                <a:latin typeface="Aptos"/>
                <a:ea typeface="Microsoft YaHei"/>
              </a:rPr>
              <a:t>403 s</a:t>
            </a:r>
          </a:p>
        </p:txBody>
      </p:sp>
      <p:sp>
        <p:nvSpPr>
          <p:cNvPr id="111" name="Rect 111"/>
          <p:cNvSpPr/>
          <p:nvPr/>
        </p:nvSpPr>
        <p:spPr>
          <a:xfrm>
            <a:off x="8183879" y="1234440"/>
            <a:ext cx="2926080" cy="356616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12" name="Text 112"/>
          <p:cNvSpPr txBox="1"/>
          <p:nvPr/>
        </p:nvSpPr>
        <p:spPr>
          <a:xfrm>
            <a:off x="8366760" y="14630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汇报重点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8366760" y="20574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总计 121,856 个控制点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366760" y="271576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212,972 个候选匹配经 RANSAC 过滤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8366760" y="3374136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约 19% tile 被有效像素预筛剔除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同轨道落在 SIFT 区，跨轨影像进入深度匹配区</a:t>
            </a:r>
          </a:p>
        </p:txBody>
      </p:sp>
      <p:pic>
        <p:nvPicPr>
          <p:cNvPr id="11" name="fig4_routing_spa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45414"/>
            <a:ext cx="7315200" cy="2870090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8229600" y="1143000"/>
            <a:ext cx="2743200" cy="507492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66760" y="13258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读图要点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66760" y="1874519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决策边界：S=0.35/0.65，D=0.20/0.55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366760" y="2606039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Pair 5 弱纹理，Pair 6 大方位角差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366760" y="33375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路由解释了为什么不能固定单一方法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Fig. 4 Routing decision 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自适应策略保持 3/3 成功，同时减少深度模型任务</a:t>
            </a:r>
          </a:p>
        </p:txBody>
      </p:sp>
      <p:pic>
        <p:nvPicPr>
          <p:cNvPr id="11" name="fig6_adaptive_efficie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614" y="1051560"/>
            <a:ext cx="5975131" cy="5257800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9464040" y="1143000"/>
            <a:ext cx="2331720" cy="507492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601200" y="132588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读图要点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601200" y="187451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adaptive: 15 个 deep tile tasks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0" y="260603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固定深度匹配器：各 27 个 tasks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0" y="333756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深度任务减少 44.4%，仍满足 10 点成功准则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Fig. 6 Adaptive efficiency benchmark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匹配线矩阵显示：自适应追求足够且稳定的控制点</a:t>
            </a:r>
          </a:p>
        </p:txBody>
      </p:sp>
      <p:pic>
        <p:nvPicPr>
          <p:cNvPr id="11" name="fig7_matching_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914" y="1051560"/>
            <a:ext cx="6030531" cy="5257800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9464040" y="1143000"/>
            <a:ext cx="2331720" cy="5074920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601200" y="132588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 b="1">
                <a:solidFill>
                  <a:srgbClr val="1B5E79"/>
                </a:solidFill>
                <a:latin typeface="Aptos"/>
                <a:ea typeface="Microsoft YaHei"/>
              </a:rPr>
              <a:t>读图要点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601200" y="187451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稀疏纹理对：adaptive 208 点，高于 SIFT+FLANN 67 点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0" y="2606039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富纹理对：adaptive 10,415 点，避免全局深度匹配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601200" y="333756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marL="285750" indent="-171450">
              <a:buChar char="•"/>
            </a:pPr>
            <a:r>
              <a:rPr lang="zh-CN" sz="1100">
                <a:solidFill>
                  <a:srgbClr val="1E2933"/>
                </a:solidFill>
                <a:latin typeface="Aptos"/>
                <a:ea typeface="Microsoft YaHei"/>
              </a:rPr>
              <a:t>中等纹理对：adaptive 1,985 点，接近 SIFT+LightGlue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Fig. 7 Matching-line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绑定层几何精度保持在亚毫像素量级</a:t>
            </a:r>
          </a:p>
        </p:txBody>
      </p:sp>
      <p:pic>
        <p:nvPicPr>
          <p:cNvPr id="11" name="fig01_ori_dom_per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9479"/>
            <a:ext cx="2560320" cy="1764600"/>
          </a:xfrm>
          <a:prstGeom prst="rect">
            <a:avLst/>
          </a:prstGeom>
        </p:spPr>
      </p:pic>
      <p:pic>
        <p:nvPicPr>
          <p:cNvPr id="12" name="fig02_dom_ori_per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29479"/>
            <a:ext cx="2560320" cy="1764600"/>
          </a:xfrm>
          <a:prstGeom prst="rect">
            <a:avLst/>
          </a:prstGeom>
        </p:spPr>
      </p:pic>
      <p:pic>
        <p:nvPicPr>
          <p:cNvPr id="13" name="fig03_round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839368"/>
            <a:ext cx="2560320" cy="1944823"/>
          </a:xfrm>
          <a:prstGeom prst="rect">
            <a:avLst/>
          </a:prstGeom>
        </p:spPr>
      </p:pic>
      <p:sp>
        <p:nvSpPr>
          <p:cNvPr id="14" name="Rect 14"/>
          <p:cNvSpPr/>
          <p:nvPr/>
        </p:nvSpPr>
        <p:spPr>
          <a:xfrm>
            <a:off x="685800" y="4800600"/>
            <a:ext cx="10789920" cy="932688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914400" y="4983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100" b="1">
                <a:solidFill>
                  <a:srgbClr val="1E2933"/>
                </a:solidFill>
                <a:latin typeface="Aptos"/>
                <a:ea typeface="Microsoft YaHei"/>
              </a:rPr>
              <a:t>DOM→原图回投开销仅 1.03–1.10×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434840" y="4983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100" b="1">
                <a:solidFill>
                  <a:srgbClr val="1E2933"/>
                </a:solidFill>
                <a:latin typeface="Aptos"/>
                <a:ea typeface="Microsoft YaHei"/>
              </a:rPr>
              <a:t>最大往返误差 0.278×10⁻³ pixels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955279" y="4983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100" b="1">
                <a:solidFill>
                  <a:srgbClr val="1E2933"/>
                </a:solidFill>
                <a:latin typeface="Aptos"/>
                <a:ea typeface="Microsoft YaHei"/>
              </a:rPr>
              <a:t>成功率 99.9990–99.9998%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Figs. 8-10 Geometry benchmarks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1089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太阳几何与 ControlNet 遍历验证了库级可用性</a:t>
            </a:r>
          </a:p>
        </p:txBody>
      </p:sp>
      <p:pic>
        <p:nvPicPr>
          <p:cNvPr id="11" name="fig04_solar_per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8329"/>
            <a:ext cx="3840480" cy="2646900"/>
          </a:xfrm>
          <a:prstGeom prst="rect">
            <a:avLst/>
          </a:prstGeom>
        </p:spPr>
      </p:pic>
      <p:pic>
        <p:nvPicPr>
          <p:cNvPr id="12" name="fig05_solar_accura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351315"/>
            <a:ext cx="3840480" cy="2920928"/>
          </a:xfrm>
          <a:prstGeom prst="rect">
            <a:avLst/>
          </a:prstGeom>
        </p:spPr>
      </p:pic>
      <p:sp>
        <p:nvSpPr>
          <p:cNvPr id="13" name="Rect 13"/>
          <p:cNvSpPr/>
          <p:nvPr/>
        </p:nvSpPr>
        <p:spPr>
          <a:xfrm>
            <a:off x="685800" y="4800600"/>
            <a:ext cx="10789920" cy="932688"/>
          </a:xfrm>
          <a:prstGeom prst="rect">
            <a:avLst/>
          </a:prstGeom>
          <a:solidFill>
            <a:srgbClr val="F2F6F8"/>
          </a:solidFill>
          <a:ln w="12000">
            <a:solidFill>
              <a:srgbClr val="D6DEE6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14400" y="4983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100" b="1">
                <a:solidFill>
                  <a:srgbClr val="1E2933"/>
                </a:solidFill>
                <a:latin typeface="Aptos"/>
                <a:ea typeface="Microsoft YaHei"/>
              </a:rPr>
              <a:t>太阳角计算开销 1.02–1.05×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434840" y="4983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100" b="1">
                <a:solidFill>
                  <a:srgbClr val="1E2933"/>
                </a:solidFill>
                <a:latin typeface="Aptos"/>
                <a:ea typeface="Microsoft YaHei"/>
              </a:rPr>
              <a:t>太阳方位/高度误差显示为 0.000×10⁻³ degrees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955279" y="4983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100" b="1">
                <a:solidFill>
                  <a:srgbClr val="1E2933"/>
                </a:solidFill>
                <a:latin typeface="Aptos"/>
                <a:ea typeface="Microsoft YaHei"/>
              </a:rPr>
              <a:t>84.2 MB 控制网遍历 462,222 measures 用时 7.01 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02920" y="6473952"/>
            <a:ext cx="11064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700">
                <a:solidFill>
                  <a:srgbClr val="5D6975"/>
                </a:solidFill>
                <a:latin typeface="Aptos"/>
                <a:ea typeface="Microsoft YaHei"/>
              </a:rPr>
              <a:t>Source: Figs. 11-12 and ControlNet benchmark 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2500" b="1">
                <a:solidFill>
                  <a:srgbClr val="1E2933"/>
                </a:solidFill>
                <a:latin typeface="Aptos"/>
                <a:ea typeface="Microsoft YaHei"/>
              </a:rPr>
              <a:t>结论：PyISIS 是行星制图算法研发的 Python 化底座</a:t>
            </a:r>
          </a:p>
        </p:txBody>
      </p:sp>
      <p:sp>
        <p:nvSpPr>
          <p:cNvPr id="11" name="Rect 11"/>
          <p:cNvSpPr/>
          <p:nvPr/>
        </p:nvSpPr>
        <p:spPr>
          <a:xfrm>
            <a:off x="914400" y="1691640"/>
            <a:ext cx="109728" cy="475488"/>
          </a:xfrm>
          <a:prstGeom prst="rect">
            <a:avLst/>
          </a:prstGeom>
          <a:solidFill>
            <a:srgbClr val="1B5E7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234440" y="1645920"/>
            <a:ext cx="987552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700" b="1">
                <a:solidFill>
                  <a:srgbClr val="1E2933"/>
                </a:solidFill>
                <a:latin typeface="Aptos"/>
                <a:ea typeface="Microsoft YaHei"/>
              </a:rPr>
              <a:t>直接 API 访问减少文件耦合</a:t>
            </a:r>
          </a:p>
        </p:txBody>
      </p:sp>
      <p:sp>
        <p:nvSpPr>
          <p:cNvPr id="13" name="Rect 13"/>
          <p:cNvSpPr/>
          <p:nvPr/>
        </p:nvSpPr>
        <p:spPr>
          <a:xfrm>
            <a:off x="914400" y="2560320"/>
            <a:ext cx="109728" cy="475488"/>
          </a:xfrm>
          <a:prstGeom prst="rect">
            <a:avLst/>
          </a:prstGeom>
          <a:solidFill>
            <a:srgbClr val="2F7D5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234440" y="2514600"/>
            <a:ext cx="987552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700" b="1">
                <a:solidFill>
                  <a:srgbClr val="1E2933"/>
                </a:solidFill>
                <a:latin typeface="Aptos"/>
                <a:ea typeface="Microsoft YaHei"/>
              </a:rPr>
              <a:t>SPICE-aware 路由适配月球弱纹理与强光照差</a:t>
            </a:r>
          </a:p>
        </p:txBody>
      </p:sp>
      <p:sp>
        <p:nvSpPr>
          <p:cNvPr id="15" name="Rect 15"/>
          <p:cNvSpPr/>
          <p:nvPr/>
        </p:nvSpPr>
        <p:spPr>
          <a:xfrm>
            <a:off x="914400" y="3429000"/>
            <a:ext cx="109728" cy="475488"/>
          </a:xfrm>
          <a:prstGeom prst="rect">
            <a:avLst/>
          </a:prstGeom>
          <a:solidFill>
            <a:srgbClr val="C96A35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234440" y="3383280"/>
            <a:ext cx="987552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500" b="1">
                <a:solidFill>
                  <a:srgbClr val="1E2933"/>
                </a:solidFill>
                <a:latin typeface="Aptos"/>
                <a:ea typeface="Microsoft YaHei"/>
              </a:rPr>
              <a:t>当前验证仍局限于 6 对 LRO NAC</a:t>
            </a:r>
          </a:p>
        </p:txBody>
      </p:sp>
      <p:sp>
        <p:nvSpPr>
          <p:cNvPr id="17" name="Rect 17"/>
          <p:cNvSpPr/>
          <p:nvPr/>
        </p:nvSpPr>
        <p:spPr>
          <a:xfrm>
            <a:off x="914400" y="4297679"/>
            <a:ext cx="109728" cy="475488"/>
          </a:xfrm>
          <a:prstGeom prst="rect">
            <a:avLst/>
          </a:prstGeom>
          <a:solidFill>
            <a:srgbClr val="B94A48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234440" y="4251959"/>
            <a:ext cx="987552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500" b="1">
                <a:solidFill>
                  <a:srgbClr val="1E2933"/>
                </a:solidFill>
                <a:latin typeface="Aptos"/>
                <a:ea typeface="Microsoft YaHei"/>
              </a:rPr>
              <a:t>下一步：findfeatures / AutoCNet / jigsaw 残差验证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14400" y="58978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/>
            <a:r>
              <a:rPr lang="zh-CN" sz="1300">
                <a:solidFill>
                  <a:srgbClr val="5D6975"/>
                </a:solidFill>
                <a:latin typeface="Aptos"/>
                <a:ea typeface="Microsoft YaHei"/>
              </a:rPr>
              <a:t>定位：可扩展的行星摄影测量 Python 开发库，而不是替代 ISIS 生产体系。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ISIS CN">
  <a:themeElements>
    <a:clrScheme name="PyISIS">
      <a:dk1>
        <a:srgbClr val="1E2933"/>
      </a:dk1>
      <a:lt1>
        <a:srgbClr val="FFFFFF"/>
      </a:lt1>
      <a:dk2>
        <a:srgbClr val="5D6975"/>
      </a:dk2>
      <a:lt2>
        <a:srgbClr val="F7F9FB"/>
      </a:lt2>
      <a:accent1>
        <a:srgbClr val="1B5E79"/>
      </a:accent1>
      <a:accent2>
        <a:srgbClr val="C96A35"/>
      </a:accent2>
      <a:accent3>
        <a:srgbClr val="2F7D58"/>
      </a:accent3>
      <a:accent4>
        <a:srgbClr val="B94A48"/>
      </a:accent4>
      <a:accent5>
        <a:srgbClr val="64748B"/>
      </a:accent5>
      <a:accent6>
        <a:srgbClr val="94A3B8"/>
      </a:accent6>
      <a:hlink>
        <a:srgbClr val="1B5E79"/>
      </a:hlink>
      <a:folHlink>
        <a:srgbClr val="C96A35"/>
      </a:folHlink>
    </a:clrScheme>
    <a:fontScheme name="PyISIS Fonts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PyISIS Forma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